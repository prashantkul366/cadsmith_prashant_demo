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Arial"/>
              </a:defRPr>
            </a:pPr>
            <a:r>
              <a:rPr sz="1300" b="0" i="0" u="none" strike="noStrike">
                <a:solidFill>
                  <a:srgbClr val="FFFFFF"/>
                </a:solidFill>
                <a:latin typeface="Arial"/>
              </a:rPr>
              <a:t>Mean Chamfer Distance — lower is better (mm)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Chamfer Distance (mm)</c:v>
                </c:pt>
              </c:strCache>
            </c:strRef>
          </c:tx>
          <c:spPr>
            <a:solidFill>
              <a:srgbClr val="8A93A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3A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D1D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A52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Zero-shot,
single call</c:v>
                  </c:pt>
                  <c:pt idx="1">
                    <c:v>Full pipeline,
no vision</c:v>
                  </c:pt>
                  <c:pt idx="2">
                    <c:v>Full pipeline,
with vision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28.37</c:v>
                </c:pt>
                <c:pt idx="1">
                  <c:v>18.19</c:v>
                </c:pt>
                <c:pt idx="2">
                  <c:v>0.74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9D1D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12700" cap="flat">
              <a:solidFill>
                <a:srgbClr val="2E374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93A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61C"/>
        </a:solidFill>
        <a:ln>
          <a:noFill/>
        </a:ln>
        <a:effectLst/>
      </c:spPr>
    </c:plotArea>
    <c:plotVisOnly val="1"/>
    <c:dispBlanksAs val="span"/>
  </c:chart>
  <c:spPr>
    <a:solidFill>
      <a:srgbClr val="12161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by asking the visitor what part they need. The gear on screen took two seconds and no model call — it came from the standard-parts catalogue. Everything in this deck is a screenshot of the running application, not a mock-up.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distinction to land: generation is not the hard part any more. Verification is. The 38x number is the research team's, measured on their benchmark.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Judge runs on a stronger model than the Coder, so it is not grading its own homework. The inner loop handles code that will not run; the outer loop handles code that runs and builds the wrong 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sentence out loud: a real involute profile, not a star polygon. Bearings, bolts, nuts, washers, screws, pins, o-rings, springs, pulleys, gears, shafts, keys, bushings, retaining rings, collars, couplings, set screws, threaded rod.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Drag the teeth slider during the demo. The point: the artefact is parametric source, so the visitor's own change is one drag away rather than a new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advisory rows as well as the blocking ones — being explicit about which checks are allowed to fail a part is the honest part of the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drawing is the answer to “can I actually use this?”. Hand the DXF to the visitor if they want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Japanese-speaking visitor arrives, switch the language and hand them the keyboard. The prompt cards are translated term for term, so the part built from either language is the same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fallback plan as much as a feature. If the venue Wi-Fi dies, the catalogue, the sliders, the drawing and a replayed run carry the whole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straight about the hard tiers: a small local model builds them but rarely gets every dimension right. That is what the measured checks are for — the failures are visible rather than shipped.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this table explicitly. It is the research team's measurement, not ours, and it is why the application was worth building around this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 this question at a stand and answer it before it is asked. Saying clearly what is not yours is what makes the rest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Volunteering the limits is the fastest way to earn a technical visitor's trust. Each of these is a known, written-down gap, not a surprise.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Drop the supplied headshot into the dashed box, then delete the placeholder text inside it. Keep the photo square-cropped so it sits level with the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handing over the keyboard. The strongest moment on a stand is a visitor typing their own part and watching it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515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sentence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 part you can make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CADSmith turns a plain-language description into CAD geometry, then measures the result in the CAD kernel and rejects it if the dimensions are wrong.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4348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Presenter name ]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Role · Organisation ]   ·   [ Event · Date ]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803136" y="1179576"/>
            <a:ext cx="4864608" cy="3675888"/>
          </a:xfrm>
          <a:prstGeom prst="roundRect">
            <a:avLst>
              <a:gd name="adj" fmla="val 1244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pic>
        <p:nvPicPr>
          <p:cNvPr id="7" name="Image 0" descr="/home/user/cadsmith_prashant_demo/docs/expo/img/crop-g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34440"/>
            <a:ext cx="4754880" cy="35661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0" y="49834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SPUR GEAR 50 MM · 2 SECONDS · NO MODEL CALL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pipeline and benchmark: Jesse Barkley, Rumi Loghmani and Amir Barati Farimani, Carnegie Mellon University (arXiv:2603.26512). This exhibit is the application built around it.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 that looks right is not a part you can make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02152" cy="2148840"/>
          </a:xfrm>
          <a:prstGeom prst="roundRect">
            <a:avLst>
              <a:gd name="adj" fmla="val 2553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once, never checked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29535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text-to-CAD produces a shape in a single pass. Nothing measures whether it is the shape that was asked for.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112" y="1828800"/>
            <a:ext cx="3502152" cy="2148840"/>
          </a:xfrm>
          <a:prstGeom prst="roundRect">
            <a:avLst>
              <a:gd name="adj" fmla="val 2553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9432" y="205740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render cannot see millimetres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99432" y="2651760"/>
            <a:ext cx="29535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inspection catches a missing hole. It cannot tell 47.14 mm from 47 mm — and the bolt pattern is the part that has to fit.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1584" y="1828800"/>
            <a:ext cx="3502152" cy="2148840"/>
          </a:xfrm>
          <a:prstGeom prst="roundRect">
            <a:avLst>
              <a:gd name="adj" fmla="val 2553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75904" y="2057400"/>
            <a:ext cx="29535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enough is scrap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375904" y="2651760"/>
            <a:ext cx="29535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workshop a plausible part is a wasted billet, a wasted setup and a wasted afternoon.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11064240" cy="1600200"/>
          </a:xfrm>
          <a:prstGeom prst="roundRect">
            <a:avLst>
              <a:gd name="adj" fmla="val 3429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6177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28.37 mm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53492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Chamfer error — one model call, no verification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46177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BD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0.74 mm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5349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benchmark with planning, kernel measurement and a vision Judge in the loop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869680" y="46177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38× reduction, from measuring what was built rather than trusting what was generated.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Figures: published CADSmith results, arXiv:2603.26512 — 100 hand-written benchmark prompts, absolute millimetre space with ICP alignment.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agents and two correction loops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7472" cy="347472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75564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029968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the sentence into a design spec: components, dimensions, constraints.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679192"/>
            <a:ext cx="347472" cy="347472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791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6517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926080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CadQuery Python, with retrieval over the CAD API documentation.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575304"/>
            <a:ext cx="347472" cy="347472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75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54787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82219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it in a sandbox, builds the solid in the OpenCASCADE kernel, exports STEP and STL.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471416"/>
            <a:ext cx="347472" cy="347472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71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44398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Validator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4718304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Measures the solid and shows a vision Judge three rendered views alongside the numbers.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367528"/>
            <a:ext cx="347472" cy="347472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53675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534009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51560" y="5614416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the exact failure and rewrites the code. Inner loop for errors, outer loop for geometry.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705856" y="1728216"/>
            <a:ext cx="5961888" cy="3562502"/>
          </a:xfrm>
          <a:prstGeom prst="roundRect">
            <a:avLst>
              <a:gd name="adj" fmla="val 1283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pic>
        <p:nvPicPr>
          <p:cNvPr id="25" name="Image 0" descr="/home/user/cadsmith_prashant_demo/docs/expo/img/08-agents-run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83080"/>
            <a:ext cx="5852160" cy="3452774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5760720" y="540044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PLAN, THE TARGET DIMENSIONS AND THE SPEND, WHILE IT RUNS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5760720" y="573877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attempt is kept — including the rejected ones.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1 · STANDARD PARTS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parts should never be generated at all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3383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M8 bolt, a 6203 bearing, a 50 mm spur gear: the dimensions come from a published standard, so a model can only introduce error. CADSmith serves these from a catalogue — exactly, instantly, with no model call — and refuses anything ambiguous.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118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families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286000" y="361188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 s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416052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time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7200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206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spent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457200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5BD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correctly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25696" y="1682496"/>
            <a:ext cx="6967728" cy="4155948"/>
          </a:xfrm>
          <a:prstGeom prst="roundRect">
            <a:avLst>
              <a:gd name="adj" fmla="val 1100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pic>
        <p:nvPicPr>
          <p:cNvPr id="14" name="Image 0" descr="/home/user/cadsmith_prashant_demo/docs/expo/img/02-hero-ge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737360"/>
            <a:ext cx="6858000" cy="40462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4480560" y="59847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BADGED CATALOGUE · NO JUDGE VERDICT · NO MODEL CALL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 no agent produced must never read as evidence that the agents work — so it is badged everywhere it appears, and the catalogue can be switched off to reproduce the published pipeline exactly.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 2 · IT STAYS PARAMETRIC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a number and the kernel rebuilds the part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output is source code, not a downloaded mesh. Every named value in the generated script becomes a slider, and letting go rebuilds the solid in about a second — no model call, no new prompt, no lost work.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Here: 18 teeth to 34, and the gear is genuinely re-cut, from 50 mm to 92 mm across.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4343400"/>
            <a:ext cx="3383280" cy="1417320"/>
          </a:xfrm>
          <a:prstGeom prst="roundRect">
            <a:avLst>
              <a:gd name="adj" fmla="val 3871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5720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“Make it 15 mm thick” works too — in English or Japanese — by rewriting the assignment in the script, with no model call at all.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34256" y="1728216"/>
            <a:ext cx="7333488" cy="4371746"/>
          </a:xfrm>
          <a:prstGeom prst="roundRect">
            <a:avLst>
              <a:gd name="adj" fmla="val 1046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pic>
        <p:nvPicPr>
          <p:cNvPr id="8" name="Image 0" descr="/home/user/cadsmith_prashant_demo/docs/expo/img/04-parame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0" y="1783080"/>
            <a:ext cx="7223760" cy="426201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389120" y="622797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ITERATION 1 · REBUILT BY THE CAD KERNEL · 0 TOKENS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MAKES IT TRUSTWORTHY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kernel overrules the Judge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4114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vision Judge has been seen passing a plate with one hole where four were asked for, and rejecting a part whose volume was exactly right.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every measurable claim the plan made is measured on the built solid, and the measurement decides. A hole-count shortfall blocks the version however confident the Judge was.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0"/>
            <a:ext cx="4114800" cy="1600200"/>
          </a:xfrm>
          <a:prstGeom prst="roundRect">
            <a:avLst>
              <a:gd name="adj" fmla="val 3429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52628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checks may block was decided by measurement, not taste. Overall bounding box and volume flagged correct parts in testing, so they are reported and never block — a gate that rejects good work gets switched off, which is worse than having none.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65776" y="1682496"/>
            <a:ext cx="6601968" cy="3940150"/>
          </a:xfrm>
          <a:prstGeom prst="roundRect">
            <a:avLst>
              <a:gd name="adj" fmla="val 1160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pic>
        <p:nvPicPr>
          <p:cNvPr id="8" name="Image 0" descr="/home/user/cadsmith_prashant_demo/docs/expo/img/composite-measu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1737360"/>
            <a:ext cx="6492240" cy="383042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120640" y="576895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CLAIM MEASURED · THE JUDGE'S THREE VIEWS · EVERY ATTEMPT KEPT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OUTPUT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ends in a drawing and a file, not a picture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drawing sheet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12264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Front, left, top and isometric, projected from the exported solid, with a title block and a first-angle projection symbol. A hole is called out Ø and a round R — 4× R5 — each size named once, the way a machinist reads one.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 a workshop opens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75304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and STL for CAM and printing, DXF for the drawing, GLTF for assemblies — and the CadQuery source itself.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091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Measurements, not estimates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038344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Bounding box, volume, face and edge counts and watertightness come from the kernel that built the solid.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31536" y="1636776"/>
            <a:ext cx="6144768" cy="4396070"/>
          </a:xfrm>
          <a:prstGeom prst="roundRect">
            <a:avLst>
              <a:gd name="adj" fmla="val 1040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pic>
        <p:nvPicPr>
          <p:cNvPr id="11" name="Image 0" descr="/home/user/cadsmith_prashant_demo/docs/expo/img/crop-draw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691640"/>
            <a:ext cx="6035040" cy="428634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0" y="616086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GENERATED FROM THE PART ON SCREEN · DOWNLOADS AS DXF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BILINGUAL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and Japanese, down to the title block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interface, the run log, the verdicts, the kernel facts, the benchmark prompts and the drawing's own title block.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「厚さを 5mm にする」 edits the part without a model call, and 「20歯 モジュール2 の平歯車」 reaches the catalogue — while 「20歯の歯車を入れるギヤボックス」 is correctly read as a gearbox, not a gear.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4572000"/>
            <a:ext cx="3840480" cy="1371600"/>
          </a:xfrm>
          <a:prstGeom prst="roundRect">
            <a:avLst>
              <a:gd name="adj" fmla="val 4000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77316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deliberately not translated: what the model reads. The agents are steered in English, and a test fails the build if a Japanese string appears in a module that talks to a model.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91456" y="1728216"/>
            <a:ext cx="6876288" cy="4101998"/>
          </a:xfrm>
          <a:prstGeom prst="roundRect">
            <a:avLst>
              <a:gd name="adj" fmla="val 1115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pic>
        <p:nvPicPr>
          <p:cNvPr id="8" name="Image 0" descr="/home/user/cadsmith_prashant_demo/docs/expo/img/06-japane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783080"/>
            <a:ext cx="6766560" cy="399227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46320" y="595823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PART, SAME NUMBERS, READ IN JAPANESE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THE STAND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still works with the network down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788920" cy="1143000"/>
          </a:xfrm>
          <a:prstGeom prst="roundRect">
            <a:avLst>
              <a:gd name="adj" fmla="val 4800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parts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9424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families, exact, about two seconds each.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11880" y="1737360"/>
            <a:ext cx="2788920" cy="1143000"/>
          </a:xfrm>
          <a:prstGeom prst="roundRect">
            <a:avLst>
              <a:gd name="adj" fmla="val 4800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40480" y="192024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edits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2249424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Sliders and plain-language edits rebuild in the kernel.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035808"/>
            <a:ext cx="2788920" cy="1143000"/>
          </a:xfrm>
          <a:prstGeom prst="roundRect">
            <a:avLst>
              <a:gd name="adj" fmla="val 4800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21868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drawings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5478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from any solid already exported.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11880" y="3035808"/>
            <a:ext cx="2788920" cy="1143000"/>
          </a:xfrm>
          <a:prstGeom prst="roundRect">
            <a:avLst>
              <a:gd name="adj" fmla="val 4800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840480" y="321868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Exports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354787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STEP, STL, GLTF, DXF and the source.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334256"/>
            <a:ext cx="2788920" cy="1143000"/>
          </a:xfrm>
          <a:prstGeom prst="roundRect">
            <a:avLst>
              <a:gd name="adj" fmla="val 4800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51713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Recorded runs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8463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 a real run — real geometry, real verdicts, marked REPLAY.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11880" y="4334256"/>
            <a:ext cx="2788920" cy="1143000"/>
          </a:xfrm>
          <a:prstGeom prst="roundRect">
            <a:avLst>
              <a:gd name="adj" fmla="val 4800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840480" y="451713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history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3840480" y="48463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past run, every attempt, side by side.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58000" y="1737360"/>
            <a:ext cx="4754880" cy="3703320"/>
          </a:xfrm>
          <a:prstGeom prst="roundRect">
            <a:avLst>
              <a:gd name="adj" fmla="val 1481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pic>
        <p:nvPicPr>
          <p:cNvPr id="23" name="Image 0" descr="/home/user/cadsmith_prashant_demo/docs/expo/img/crop-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1965960"/>
            <a:ext cx="1737360" cy="3264408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9189720" y="2057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run kept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9189720" y="246888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Converged, not converged, failed or served from the catalogue — in either language, each run keeps its badge, its attempts and its exports, and any of them can be reopened and compared.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5623560"/>
            <a:ext cx="11064240" cy="822960"/>
          </a:xfrm>
          <a:prstGeom prst="roundRect">
            <a:avLst>
              <a:gd name="adj" fmla="val 6667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583387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five agents need a model backend. Everything a visitor sees in the first sixty seconds needs neither a network nor an API key.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 · RUN ON A SMALL LOCAL MODEL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prompts, end to end, on one laptop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0350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280160"/>
                <a:gridCol w="12801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Correct on every 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Catalogue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Easy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hard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02920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Model: Qwen3-VL-8B running on the presenter's own machine — a small open model, not a frontier one. Seven further prompts never reached it, because the tunnel between the app and the model timed out; those are an infrastructure limit of that setup, not a result.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949440" y="1828800"/>
            <a:ext cx="2194560" cy="1371600"/>
          </a:xfrm>
          <a:prstGeom prst="roundRect">
            <a:avLst>
              <a:gd name="adj" fmla="val 4000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50608" y="2011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 / 112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150608" y="254203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dimensional checks passed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9345168" y="1828800"/>
            <a:ext cx="2194560" cy="1371600"/>
          </a:xfrm>
          <a:prstGeom prst="roundRect">
            <a:avLst>
              <a:gd name="adj" fmla="val 4000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546336" y="2011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D0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 s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9546336" y="254203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time for a catalogue part, 0 tokens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949440" y="3429000"/>
            <a:ext cx="2194560" cy="1371600"/>
          </a:xfrm>
          <a:prstGeom prst="roundRect">
            <a:avLst>
              <a:gd name="adj" fmla="val 4000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150608" y="3611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 s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7150608" y="414223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time for an agent-built part (median 110 s)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345168" y="3429000"/>
            <a:ext cx="2194560" cy="1371600"/>
          </a:xfrm>
          <a:prstGeom prst="roundRect">
            <a:avLst>
              <a:gd name="adj" fmla="val 4000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546336" y="36118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387,302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9546336" y="414223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tokens across 139 calls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502920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 works end to end on a model small enough to run on a laptop. It is not a claim about the state of the art.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PUBLISHED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underlying pipeline scores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0350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2194560"/>
          <a:ext cx="46634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Configuration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IoU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Zero-shot, single call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0.8085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pipeline, no vision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D1D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0.9563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5A5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pipeline, with vision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5A5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5A5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74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22B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949440" y="41605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hand-written prompts in three tiers, every reference script written and inspected by hand. Metrics in absolute millimetre space with ICP alignment, so dimensional accuracy counts and not merely shape similarity.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Barkley, Loghmani &amp; Barati Farimani, arXiv:2603.26512, Carnegie Mellon University — their results, on their benchmark.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DID WHAT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pipeline is Carnegie Mellon's. The exhibit is the layer around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94960" cy="3931920"/>
          </a:xfrm>
          <a:prstGeom prst="roundRect">
            <a:avLst>
              <a:gd name="adj" fmla="val 1395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Carnegie Mellon University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871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Barkley · Loghmani · Barati Farimani — used unmodified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718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five-agent pipeline and its two correction loops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over the CadQuery API for the Coder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vision Judge's three-view protocol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100-prompt benchmark and its reference scripts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published results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94960" cy="3931920"/>
          </a:xfrm>
          <a:prstGeom prst="roundRect">
            <a:avLst>
              <a:gd name="adj" fmla="val 1395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37960" y="21488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work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8716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about 22,300 lines of Python and 3,900 of browser code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97180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web application: live reasoning, iterations, history, exports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standard-parts catalogue — 18 families, and the router that refuses ambiguity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specification checks that can block a version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drawings and DXF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Parametric sliders and model-free edits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per-run token ceiling and per-agent spend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English and Japanese throughout; Claude on Amazon Bedrock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automated tests and 11 browser test suites cover the application layer; the research code is imported, never edited, so its published numbers stay reproducible.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HONESTLY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 not do yet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66928" y="1837944"/>
            <a:ext cx="128016" cy="128016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37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 parts still fail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17373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hard tiers a small local model builds a solid but misses dimensions. The checks catch it; they do not fix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2624328"/>
            <a:ext cx="128016" cy="128016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523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tolerances or GD&amp;T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252374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Dimensions are as modelled. The drawing says so, in those words, rather than implying a fit it cannot promise.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410712"/>
            <a:ext cx="128016" cy="128016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310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Assemblies are half done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331012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Clashes are detected and STEP keeps the components separate, but the viewer still shows one fused solid and the drawing has no parts list.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197096"/>
            <a:ext cx="128016" cy="128016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40965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names are the script's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297680" y="4096512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sliders are labelled with the identifiers the Coder chose, so they stay English even in Japanese.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983480"/>
            <a:ext cx="128016" cy="128016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88289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depends on the backend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297680" y="488289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seconds from the catalogue; a minute or two for an agent run on a small local model.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8064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5989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demo that shows its failures is worth more than one that hides them — every rejected attempt stays on screen with the reason it was rejected.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you are talking to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931920" cy="4206240"/>
          </a:xfrm>
          <a:prstGeom prst="roundRect">
            <a:avLst>
              <a:gd name="adj" fmla="val 1395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48840"/>
            <a:ext cx="3200400" cy="3200400"/>
          </a:xfrm>
          <a:prstGeom prst="roundRect">
            <a:avLst>
              <a:gd name="adj" fmla="val 1714"/>
            </a:avLst>
          </a:prstGeom>
          <a:solidFill>
            <a:srgbClr val="232B35"/>
          </a:solidFill>
          <a:ln w="19050">
            <a:solidFill>
              <a:srgbClr val="F5A52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1051560" y="3200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PRESENTER PHOTO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 this box with the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headshot supplied by the presenter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2011680"/>
            <a:ext cx="6675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Presenter name ]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25603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A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Role · Team · Organisation ]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3063240"/>
            <a:ext cx="6675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the exhibited application — the interface, the standard-parts catalogue, the measured checks, the drawings and the bilingual layer — around the published CADSmith pipeline.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One line on background: what you work on, and why this. 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937760" y="4892040"/>
            <a:ext cx="6675120" cy="1280160"/>
          </a:xfrm>
          <a:prstGeom prst="roundRect">
            <a:avLst>
              <a:gd name="adj" fmla="val 4286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0" y="5056632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specification 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portrait or square crop, head and shoulders, 1000 × 1000 px or larger, plain or softly blurred background, even lighting, JPEG or PNG. Landscape crops and phone snaps at an angle look wrong beside the screenshots.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4370832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email ]   ·   [ repository or QR destination ]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A5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COME AND TRY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a part. Watch it get made.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926080"/>
            <a:ext cx="347472" cy="347472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898648"/>
            <a:ext cx="6446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you need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172968"/>
            <a:ext cx="6446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English or Japanese, in your own words — no CAD skills required.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886200"/>
            <a:ext cx="347472" cy="347472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886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3858768"/>
            <a:ext cx="6446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it get checked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4133088"/>
            <a:ext cx="6446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plan, the code, the kernel's measurements and the Judge's verdict.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846320"/>
            <a:ext cx="347472" cy="347472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846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16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4818888"/>
            <a:ext cx="6446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the file with you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5093208"/>
            <a:ext cx="6446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STEP, STL, DXF or the drawing — whatever your own tools open.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321040" y="1463040"/>
            <a:ext cx="3291840" cy="3291840"/>
          </a:xfrm>
          <a:prstGeom prst="roundRect">
            <a:avLst>
              <a:gd name="adj" fmla="val 1667"/>
            </a:avLst>
          </a:prstGeom>
          <a:solidFill>
            <a:srgbClr val="1C222B"/>
          </a:solidFill>
          <a:ln w="12700">
            <a:solidFill>
              <a:srgbClr val="2E374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78240" y="1828800"/>
            <a:ext cx="2377440" cy="2377440"/>
          </a:xfrm>
          <a:prstGeom prst="roundRect">
            <a:avLst>
              <a:gd name="adj" fmla="val 2308"/>
            </a:avLst>
          </a:prstGeom>
          <a:solidFill>
            <a:srgbClr val="232B35"/>
          </a:solidFill>
          <a:ln w="19050">
            <a:solidFill>
              <a:srgbClr val="2E3743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8778240" y="2788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QR CODE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A9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repository or contact ]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43434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9D1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Presenter name · email ]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CADSmith pipeline and benchmark: Barkley, Loghmani &amp; Barati Farimani, Carnegie Mellon University (arXiv:2603.26512), used unmodified.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CADSmith — tech expo</dc:title>
  <dc:subject>PptxGenJS Presentation</dc:subject>
  <dc:creator>CADSmith</dc:creator>
  <cp:lastModifiedBy>CADSmith</cp:lastModifiedBy>
  <cp:revision>1</cp:revision>
  <dcterms:created xsi:type="dcterms:W3CDTF">2026-09-24T09:28:42Z</dcterms:created>
  <dcterms:modified xsi:type="dcterms:W3CDTF">2026-09-24T09:28:42Z</dcterms:modified>
</cp:coreProperties>
</file>